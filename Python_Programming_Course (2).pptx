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0"/>
  </p:notesMasterIdLst>
  <p:sldIdLst>
    <p:sldId id="381" r:id="rId2"/>
    <p:sldId id="382" r:id="rId3"/>
    <p:sldId id="383" r:id="rId4"/>
    <p:sldId id="384" r:id="rId5"/>
    <p:sldId id="385" r:id="rId6"/>
    <p:sldId id="386" r:id="rId7"/>
    <p:sldId id="387" r:id="rId8"/>
    <p:sldId id="388" r:id="rId9"/>
    <p:sldId id="389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397" r:id="rId18"/>
    <p:sldId id="398" r:id="rId19"/>
    <p:sldId id="399" r:id="rId20"/>
    <p:sldId id="400" r:id="rId21"/>
    <p:sldId id="401" r:id="rId22"/>
    <p:sldId id="402" r:id="rId23"/>
    <p:sldId id="403" r:id="rId24"/>
    <p:sldId id="404" r:id="rId25"/>
    <p:sldId id="405" r:id="rId26"/>
    <p:sldId id="406" r:id="rId27"/>
    <p:sldId id="407" r:id="rId28"/>
    <p:sldId id="408" r:id="rId29"/>
    <p:sldId id="409" r:id="rId30"/>
    <p:sldId id="410" r:id="rId31"/>
    <p:sldId id="411" r:id="rId32"/>
    <p:sldId id="413" r:id="rId33"/>
    <p:sldId id="416" r:id="rId34"/>
    <p:sldId id="417" r:id="rId35"/>
    <p:sldId id="418" r:id="rId36"/>
    <p:sldId id="419" r:id="rId37"/>
    <p:sldId id="420" r:id="rId38"/>
    <p:sldId id="421" r:id="rId39"/>
    <p:sldId id="422" r:id="rId40"/>
    <p:sldId id="423" r:id="rId41"/>
    <p:sldId id="424" r:id="rId42"/>
    <p:sldId id="425" r:id="rId43"/>
    <p:sldId id="426" r:id="rId44"/>
    <p:sldId id="427" r:id="rId45"/>
    <p:sldId id="428" r:id="rId46"/>
    <p:sldId id="430" r:id="rId47"/>
    <p:sldId id="431" r:id="rId48"/>
    <p:sldId id="432" r:id="rId49"/>
    <p:sldId id="433" r:id="rId50"/>
    <p:sldId id="434" r:id="rId51"/>
    <p:sldId id="436" r:id="rId52"/>
    <p:sldId id="437" r:id="rId53"/>
    <p:sldId id="438" r:id="rId54"/>
    <p:sldId id="439" r:id="rId55"/>
    <p:sldId id="440" r:id="rId56"/>
    <p:sldId id="441" r:id="rId57"/>
    <p:sldId id="442" r:id="rId58"/>
    <p:sldId id="444" r:id="rId59"/>
    <p:sldId id="445" r:id="rId60"/>
    <p:sldId id="446" r:id="rId61"/>
    <p:sldId id="447" r:id="rId62"/>
    <p:sldId id="448" r:id="rId63"/>
    <p:sldId id="449" r:id="rId64"/>
    <p:sldId id="450" r:id="rId65"/>
    <p:sldId id="451" r:id="rId66"/>
    <p:sldId id="453" r:id="rId67"/>
    <p:sldId id="454" r:id="rId68"/>
    <p:sldId id="455" r:id="rId69"/>
    <p:sldId id="456" r:id="rId70"/>
    <p:sldId id="457" r:id="rId71"/>
    <p:sldId id="458" r:id="rId72"/>
    <p:sldId id="459" r:id="rId73"/>
    <p:sldId id="460" r:id="rId74"/>
    <p:sldId id="461" r:id="rId75"/>
    <p:sldId id="463" r:id="rId76"/>
    <p:sldId id="464" r:id="rId77"/>
    <p:sldId id="465" r:id="rId78"/>
    <p:sldId id="380" r:id="rId7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4" d="100"/>
          <a:sy n="84" d="100"/>
        </p:scale>
        <p:origin x="91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065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589520" y="3108960"/>
            <a:ext cx="2926080" cy="2926080"/>
          </a:xfrm>
          <a:prstGeom prst="ellipse">
            <a:avLst/>
          </a:prstGeom>
          <a:solidFill>
            <a:srgbClr val="30699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0" b="1" i="0">
                <a:solidFill>
                  <a:srgbClr val="FFD43B"/>
                </a:solidFill>
                <a:latin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7863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Data Structures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063240"/>
            <a:ext cx="7680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▪  Lists, Tuples, Sets &amp; Dictionaries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▪  Built-in methods for organizing and storing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What are Data Structures?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A Data Structure is a way of organizing and storing data so it can be accessed and modified efficiently.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Python provides several built-in data structures that make programming easier.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The main ones are: List, Tuple, Set, Dictionary and String.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Main Data Structures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280160"/>
                <a:gridCol w="2286000"/>
                <a:gridCol w="1280160"/>
              </a:tblGrid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Data Structure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Mutable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Ordered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Duplicate Values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Syntax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Tuple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( )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Set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{ }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Dictionary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Keys: No, Values: Yes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{key: value}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" ", ' '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1. Lists — Definition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A List is an ordered, mutable collection that can store multiple values of different data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28216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93976"/>
            <a:ext cx="8046720" cy="1380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Ordered and mutable (can change)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Allows duplicates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Supports indexing and slicing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Can contain different data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Lists — Syntax &amp;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A list is created using square brackets.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0" i="0" dirty="0" smtClean="0">
                <a:solidFill>
                  <a:srgbClr val="D4D4D4"/>
                </a:solidFill>
                <a:latin typeface="Courier New"/>
              </a:rPr>
              <a:t>#</a:t>
            </a:r>
            <a:r>
              <a:rPr sz="1250" b="0" i="0" dirty="0" err="1" smtClean="0">
                <a:solidFill>
                  <a:srgbClr val="D4D4D4"/>
                </a:solidFill>
                <a:latin typeface="Courier New"/>
              </a:rPr>
              <a:t>list_name</a:t>
            </a:r>
            <a:r>
              <a:rPr sz="1250" b="0" i="0" dirty="0" smtClean="0">
                <a:solidFill>
                  <a:srgbClr val="D4D4D4"/>
                </a:solidFill>
                <a:latin typeface="Courier New"/>
              </a:rPr>
              <a:t> 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= [item1, item2, item3]</a:t>
            </a:r>
          </a:p>
          <a:p>
            <a:pPr algn="l"/>
            <a:r>
              <a:rPr sz="1250" b="0" i="0" dirty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 dirty="0">
                <a:solidFill>
                  <a:srgbClr val="D4D4D4"/>
                </a:solidFill>
                <a:latin typeface="Courier New"/>
              </a:rPr>
              <a:t>fruits = [</a:t>
            </a:r>
            <a:r>
              <a:rPr sz="1250" b="0" i="0" dirty="0">
                <a:solidFill>
                  <a:srgbClr val="CE9178"/>
                </a:solidFill>
                <a:latin typeface="Courier New"/>
              </a:rPr>
              <a:t>"Apple"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 dirty="0">
                <a:solidFill>
                  <a:srgbClr val="CE9178"/>
                </a:solidFill>
                <a:latin typeface="Courier New"/>
              </a:rPr>
              <a:t>"Banana"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 dirty="0">
                <a:solidFill>
                  <a:srgbClr val="CE9178"/>
                </a:solidFill>
                <a:latin typeface="Courier New"/>
              </a:rPr>
              <a:t>"Mango"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 dirty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(fruits)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['Apple', 'Banana', 'Mango']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List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Access list items using their index number, starting from 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182436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394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394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fruits = [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"Apple"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"Banana"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"Mango"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(fruits[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(fruits[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(fruits[-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26020"/>
            <a:ext cx="8229600" cy="143858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618087"/>
            <a:ext cx="7863840" cy="7694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Apple </a:t>
            </a:r>
            <a:endParaRPr lang="en-US" sz="1250" b="0" i="0" dirty="0" smtClean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Banana </a:t>
            </a:r>
            <a:endParaRPr lang="en-US" sz="1250" b="0" i="0" dirty="0" smtClean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Mango</a:t>
            </a:r>
            <a:endParaRPr sz="12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List Slicing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Syntax:  list[start:stop:step]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177605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 = 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50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60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(numbers[: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:])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(numbers[::-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83864"/>
            <a:ext cx="8229600" cy="12710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628486"/>
            <a:ext cx="7863840" cy="9618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[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20,30,40]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[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10,20,30]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[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40,50,60] </a:t>
            </a:r>
            <a:endParaRPr lang="en-US" sz="1250" b="0" i="0" dirty="0" smtClean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[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60,50,40,30,20,10]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Common List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246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append()  —  adds one element at the end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extend()  —  adds multiple elements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insert()  —  inserts an element at a position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remove()  —  removes a specific value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pop()  —  removes the last (or given) element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clear()  —  removes all elements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sort()  —  sorts the list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reverse()  —  reverses the list order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count()  —  counts occurrences of a value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index()  —  returns the index of a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append()  &amp;  extend()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append() adds one element; extend() adds multiple elements at once.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715768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915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915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 = 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append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a = 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a.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extend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41063"/>
            <a:ext cx="8229600" cy="92354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4101471"/>
            <a:ext cx="786384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[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1,2,3,4] 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[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1,2,3,4]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insert()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Inserts an element at a specific position in the list.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names = [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"Ali"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"Ahmed"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names.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insert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"Sara"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(names)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['Ali', 'Sara', 'Ahmed']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remove()  &amp;  pop()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remove() deletes a value; pop() removes the last element by default.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490661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915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915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fruits = [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"Apple"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"Banana"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"Mango"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fruits.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remove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"Banana"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(fruits)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 = 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pop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34245"/>
            <a:ext cx="8229600" cy="1221803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718278"/>
            <a:ext cx="786384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[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'Apple', 'Mango'] 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[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10, 20]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clear()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Removes all elements from the list, leaving it empty.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 = 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clear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[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sort()  &amp;  reverse()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sort() arranges elements in order; reverse() flips the current order.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459839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915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915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 = 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5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8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sort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 = 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reverse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03423"/>
            <a:ext cx="8229600" cy="125262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3616975"/>
            <a:ext cx="786384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[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1,2,5,8] 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[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3,2,1]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count()  &amp;  index()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count() counts occurrences; index() finds the position of a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7"/>
            <a:ext cx="8229600" cy="2470113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394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394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 = 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count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colors = [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"Red"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"Blue"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"Green"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(colors.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index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"Blue"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29518"/>
            <a:ext cx="8229600" cy="113509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835465"/>
            <a:ext cx="786384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3  </a:t>
            </a:r>
            <a:endParaRPr lang="en-US" sz="1250" b="0" i="0" dirty="0" smtClean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1</a:t>
            </a:r>
            <a:endParaRPr sz="12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Nested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A list can contain other lists as its elements.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915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915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matrix = [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],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],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5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6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]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(matrix[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2. Tuples — Definition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A Tuple is an ordered and immutable collection. Once created, its values cannot be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28216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93976"/>
            <a:ext cx="804672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Ordered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Immutable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Allows duplicates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Faster than lists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Supports indexing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Tuples — Syntax, Indexing &amp; Slicing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A tuple is created using round brackets.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093976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colors = 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"Red"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"Green"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"Blue"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(colors)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(colors[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(colors[-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(colors[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:])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700" y="3347834"/>
            <a:ext cx="8229600" cy="151677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509614"/>
            <a:ext cx="7863840" cy="9618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('</a:t>
            </a:r>
            <a:r>
              <a:rPr sz="1250" b="0" i="0" dirty="0" err="1" smtClean="0">
                <a:solidFill>
                  <a:srgbClr val="1E293B"/>
                </a:solidFill>
                <a:latin typeface="Calibri"/>
              </a:rPr>
              <a:t>Red','Green','Blue</a:t>
            </a: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')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Red </a:t>
            </a:r>
            <a:endParaRPr lang="en-US" sz="1250" b="0" i="0" dirty="0" smtClean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Blue </a:t>
            </a:r>
            <a:endParaRPr lang="en-US" sz="1250" b="0" i="0" dirty="0" smtClean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(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'</a:t>
            </a:r>
            <a:r>
              <a:rPr sz="1250" b="0" i="0" dirty="0" err="1">
                <a:solidFill>
                  <a:srgbClr val="1E293B"/>
                </a:solidFill>
                <a:latin typeface="Calibri"/>
              </a:rPr>
              <a:t>Green','Blue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Tuple Packing &amp; Unpacking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Packing groups values into a tuple; unpacking assigns them back to variables.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408468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student = 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"Ali"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18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   </a:t>
            </a:r>
            <a:r>
              <a:rPr sz="1250" b="0" i="1">
                <a:solidFill>
                  <a:srgbClr val="6A9955"/>
                </a:solidFill>
                <a:latin typeface="Courier New"/>
              </a:rPr>
              <a:t># packing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name, age, grade = student   </a:t>
            </a:r>
            <a:r>
              <a:rPr sz="1250" b="0" i="1">
                <a:solidFill>
                  <a:srgbClr val="6A9955"/>
                </a:solidFill>
                <a:latin typeface="Courier New"/>
              </a:rPr>
              <a:t># unpacking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(name)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(age)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(grade)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2052"/>
            <a:ext cx="8229600" cy="1212556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870467"/>
            <a:ext cx="7863840" cy="7694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Ali </a:t>
            </a:r>
            <a:endParaRPr lang="en-US" sz="1250" b="0" i="0" dirty="0" smtClean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18 </a:t>
            </a:r>
            <a:endParaRPr lang="en-US" sz="1250" b="0" i="0" dirty="0" smtClean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A</a:t>
            </a:r>
            <a:endParaRPr sz="12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Tuple Methods: count()  &amp;  index()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Tuples only support two built-in methods.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3879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394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394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 = (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count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 = (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5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8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9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index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8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31504"/>
            <a:ext cx="8229600" cy="123310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664903"/>
            <a:ext cx="786384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2  </a:t>
            </a:r>
            <a:endParaRPr lang="en-US" sz="1250" b="0" i="0" dirty="0" smtClean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1</a:t>
            </a:r>
            <a:endParaRPr sz="12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3. Sets — Definition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A Set is an unordered collection of unique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28216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93976"/>
            <a:ext cx="8046720" cy="1380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Unordered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Mutable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No duplicates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No indexing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Sets — Syntax &amp;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2350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Duplicate values are automatically removed when a set is created.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 = {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{1, 2, 3}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add()  &amp;  remove()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add() inserts an element; remove() deletes a value (raises an error if missing).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367371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 = {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add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remove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92666"/>
            <a:ext cx="8229600" cy="1363382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820032"/>
            <a:ext cx="786384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{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1,2,3,4} 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{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1,3,4}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discard(), pop()  &amp;  clear()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discard() does not raise an error if the value doesn't exist; pop() removes a random element.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354579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915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915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 = {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discard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   </a:t>
            </a:r>
            <a:r>
              <a:rPr sz="1250" b="0" i="1">
                <a:solidFill>
                  <a:srgbClr val="6A9955"/>
                </a:solidFill>
                <a:latin typeface="Courier New"/>
              </a:rPr>
              <a:t># no error, 10 not in set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pop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()          </a:t>
            </a:r>
            <a:r>
              <a:rPr sz="1250" b="0" i="1">
                <a:solidFill>
                  <a:srgbClr val="6A9955"/>
                </a:solidFill>
                <a:latin typeface="Courier New"/>
              </a:rPr>
              <a:t># removes a random element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numbers.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clear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(numbers)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78148"/>
            <a:ext cx="8229600" cy="12779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878837"/>
            <a:ext cx="786384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{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1,3,4} 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set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Union  &amp;  Intersection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| combines both sets; &amp; keeps only the common elements.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254356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394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394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A = {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B = {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5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(A | B)   </a:t>
            </a:r>
            <a:r>
              <a:rPr sz="1250" b="0" i="1">
                <a:solidFill>
                  <a:srgbClr val="6A9955"/>
                </a:solidFill>
                <a:latin typeface="Courier New"/>
              </a:rPr>
              <a:t># union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(A &amp; B)   </a:t>
            </a:r>
            <a:r>
              <a:rPr sz="1250" b="0" i="1">
                <a:solidFill>
                  <a:srgbClr val="6A9955"/>
                </a:solidFill>
                <a:latin typeface="Courier New"/>
              </a:rPr>
              <a:t># intersection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97940"/>
            <a:ext cx="8229600" cy="136666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3764572"/>
            <a:ext cx="786384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{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1,2,3,4,5} 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{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3}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Difference  &amp;  Symmetric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- keeps values only in the first set; ^ keeps values not shared by both.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192711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394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394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A = {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B = {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5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(A - B)   </a:t>
            </a:r>
            <a:r>
              <a:rPr sz="1250" b="0" i="1">
                <a:solidFill>
                  <a:srgbClr val="6A9955"/>
                </a:solidFill>
                <a:latin typeface="Courier New"/>
              </a:rPr>
              <a:t># difference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(A ^ B)   </a:t>
            </a:r>
            <a:r>
              <a:rPr sz="1250" b="0" i="1">
                <a:solidFill>
                  <a:srgbClr val="6A9955"/>
                </a:solidFill>
                <a:latin typeface="Courier New"/>
              </a:rPr>
              <a:t># symmetric difference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44584"/>
            <a:ext cx="8229600" cy="133029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797903"/>
            <a:ext cx="786384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{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1,2} </a:t>
            </a:r>
            <a:endParaRPr lang="en-US" sz="1250" b="0" i="0" dirty="0" smtClean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{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1,2,4,5}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4. Dictionaries — Definition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A Dictionary stores data as Key : Value pairs.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28216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93976"/>
            <a:ext cx="8046720" cy="1380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Mutable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Ordered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Keys must be unique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Values can repeat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Dictionaries — Syntax &amp;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A dictionary is created using curly braces with key:value pairs.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61188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student = {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"name"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"Ali"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"age"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18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"marks"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90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(student)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Accessing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Use square brackets or get() to access a value by its key.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395345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dirty="0">
                <a:solidFill>
                  <a:srgbClr val="D4D4D4"/>
                </a:solidFill>
                <a:latin typeface="Courier New"/>
              </a:rPr>
              <a:t>student = {</a:t>
            </a:r>
            <a:r>
              <a:rPr sz="1250" b="0" i="0" dirty="0">
                <a:solidFill>
                  <a:srgbClr val="CE9178"/>
                </a:solidFill>
                <a:latin typeface="Courier New"/>
              </a:rPr>
              <a:t>"name"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 dirty="0">
                <a:solidFill>
                  <a:srgbClr val="CE9178"/>
                </a:solidFill>
                <a:latin typeface="Courier New"/>
              </a:rPr>
              <a:t>"Ali"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 dirty="0">
                <a:solidFill>
                  <a:srgbClr val="CE9178"/>
                </a:solidFill>
                <a:latin typeface="Courier New"/>
              </a:rPr>
              <a:t>"age"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 dirty="0">
                <a:solidFill>
                  <a:srgbClr val="B5CEA8"/>
                </a:solidFill>
                <a:latin typeface="Courier New"/>
              </a:rPr>
              <a:t>18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 dirty="0">
                <a:solidFill>
                  <a:srgbClr val="CE9178"/>
                </a:solidFill>
                <a:latin typeface="Courier New"/>
              </a:rPr>
              <a:t>"marks"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 dirty="0">
                <a:solidFill>
                  <a:srgbClr val="B5CEA8"/>
                </a:solidFill>
                <a:latin typeface="Courier New"/>
              </a:rPr>
              <a:t>90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sz="1250" b="0" i="0" dirty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 dirty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(student[</a:t>
            </a:r>
            <a:r>
              <a:rPr sz="1250" b="0" i="0" dirty="0">
                <a:solidFill>
                  <a:srgbClr val="CE9178"/>
                </a:solidFill>
                <a:latin typeface="Courier New"/>
              </a:rPr>
              <a:t>"name"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])</a:t>
            </a:r>
          </a:p>
          <a:p>
            <a:pPr algn="l"/>
            <a:r>
              <a:rPr sz="1250" b="0" i="0" dirty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 dirty="0" err="1">
                <a:solidFill>
                  <a:srgbClr val="D4D4D4"/>
                </a:solidFill>
                <a:latin typeface="Courier New"/>
              </a:rPr>
              <a:t>student.</a:t>
            </a:r>
            <a:r>
              <a:rPr sz="1250" b="0" i="0" dirty="0" err="1">
                <a:solidFill>
                  <a:srgbClr val="DCDCAA"/>
                </a:solidFill>
                <a:latin typeface="Courier New"/>
              </a:rPr>
              <a:t>get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 dirty="0">
                <a:solidFill>
                  <a:srgbClr val="CE9178"/>
                </a:solidFill>
                <a:latin typeface="Courier New"/>
              </a:rPr>
              <a:t>"age"</a:t>
            </a:r>
            <a:r>
              <a:rPr sz="1250" b="0" i="0" dirty="0">
                <a:solidFill>
                  <a:srgbClr val="D4D4D4"/>
                </a:solidFill>
                <a:latin typeface="Courier New"/>
              </a:rPr>
              <a:t>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48074"/>
            <a:ext cx="8229600" cy="1307973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959228"/>
            <a:ext cx="786384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Ali </a:t>
            </a:r>
            <a:endParaRPr lang="en-US" sz="1250" b="0" i="0" dirty="0" smtClean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18</a:t>
            </a:r>
            <a:endParaRPr sz="12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Add, Update  &amp;  Delete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Dictionaries can be modified after creation.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3461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student = {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"name"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"Ali"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"age"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18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student[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"city"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 =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"Karachi"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  </a:t>
            </a:r>
            <a:r>
              <a:rPr sz="1250" b="0" i="1">
                <a:solidFill>
                  <a:srgbClr val="6A9955"/>
                </a:solidFill>
                <a:latin typeface="Courier New"/>
              </a:rPr>
              <a:t># add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student[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"age"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           </a:t>
            </a:r>
            <a:r>
              <a:rPr sz="1250" b="0" i="1">
                <a:solidFill>
                  <a:srgbClr val="6A9955"/>
                </a:solidFill>
                <a:latin typeface="Courier New"/>
              </a:rPr>
              <a:t># update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del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student[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"name"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            </a:t>
            </a:r>
            <a:r>
              <a:rPr sz="1250" b="0" i="1">
                <a:solidFill>
                  <a:srgbClr val="6A9955"/>
                </a:solidFill>
                <a:latin typeface="Courier New"/>
              </a:rPr>
              <a:t># delete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(student)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{'age': 20, 'city': 'Karachi'}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keys(), values()  &amp;  items()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These methods return views of a dictionary's keys, values, or key-value pairs.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1833372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394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394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student = {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"name"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"Ali"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"age"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18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"marks"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90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(student.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keys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())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(student.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values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())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(student.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items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32403"/>
            <a:ext cx="8229600" cy="163220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522054"/>
            <a:ext cx="7863840" cy="7694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dict_keys([</a:t>
            </a:r>
            <a:r>
              <a:rPr lang="en-US" sz="1250" b="0" i="0" dirty="0" smtClean="0">
                <a:solidFill>
                  <a:srgbClr val="1E293B"/>
                </a:solidFill>
                <a:latin typeface="Calibri"/>
              </a:rPr>
              <a:t>‘name’, ’age’, ’marks’</a:t>
            </a: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]) 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dict_values([</a:t>
            </a:r>
            <a:r>
              <a:rPr lang="en-US" sz="1250" b="0" i="0" dirty="0" smtClean="0">
                <a:solidFill>
                  <a:srgbClr val="1E293B"/>
                </a:solidFill>
                <a:latin typeface="Calibri"/>
              </a:rPr>
              <a:t>‘Ali’, 18, 90</a:t>
            </a: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]) 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dict_items([</a:t>
            </a:r>
            <a:r>
              <a:rPr lang="en-US" sz="1250" b="0" i="0" dirty="0" smtClean="0">
                <a:solidFill>
                  <a:srgbClr val="1E293B"/>
                </a:solidFill>
                <a:latin typeface="Calibri"/>
              </a:rPr>
              <a:t>(</a:t>
            </a:r>
            <a:r>
              <a:rPr lang="en-US" sz="1250" dirty="0" smtClean="0">
                <a:solidFill>
                  <a:srgbClr val="1E293B"/>
                </a:solidFill>
                <a:latin typeface="Calibri"/>
              </a:rPr>
              <a:t>'</a:t>
            </a:r>
            <a:r>
              <a:rPr lang="en-US" sz="1250" b="0" i="0" dirty="0" smtClean="0">
                <a:solidFill>
                  <a:srgbClr val="1E293B"/>
                </a:solidFill>
                <a:latin typeface="Calibri"/>
              </a:rPr>
              <a:t>name’:’Ali’),(‘age’:18),(‘marks’:90)</a:t>
            </a: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])</a:t>
            </a:r>
            <a:endParaRPr sz="12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pop()  &amp;  update()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pop() removes a key; update() adds or changes multiple key-value pairs.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394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394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student = {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"name"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"Ali"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"age"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18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"marks"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90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student.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pop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"age"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student.</a:t>
            </a:r>
            <a:r>
              <a:rPr sz="1250" b="0" i="0">
                <a:solidFill>
                  <a:srgbClr val="DCDCAA"/>
                </a:solidFill>
                <a:latin typeface="Courier New"/>
              </a:rPr>
              <a:t>update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({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"marks"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95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})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(student)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{'name': 'Ali', 'marks': 95}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Nested Dictionary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A dictionary can contain other dictionaries as its values.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students = {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"student1"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{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"name"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"Ali"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"marks"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90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(students[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"student1"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][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"name"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])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Ali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20040"/>
            <a:ext cx="2194560" cy="384048"/>
          </a:xfrm>
          <a:prstGeom prst="roundRect">
            <a:avLst>
              <a:gd name="adj" fmla="val 8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MCQs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Data Structures (1/3) — Multiple Choice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1.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Which data structure is ordered and mutable but does not allow key-based access?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List    B) Set    C) Dictionary    D) Tuple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444752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2.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Which data structure does NOT allow duplicate values?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List    B) Tuple    C) Set    D) Dictionary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42032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3.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Which symbol is used to create a tuple?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[ ]    B) { }    C) ( )    D) &lt; 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542032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615184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4.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Which method adds a single element to the end of a list?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extend()    B) append()    C) insert()    D) add()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12464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785616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5.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What does numbers[::-1] do to a list?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Sorts it    B) Reverses it    C) Clears it    D) Copies first half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alibri"/>
              </a:rPr>
              <a:t>Answer Key: </a:t>
            </a:r>
            <a:r>
              <a:rPr sz="1050" b="0" i="0">
                <a:solidFill>
                  <a:srgbClr val="64748B"/>
                </a:solidFill>
                <a:latin typeface="Calibri"/>
              </a:rPr>
              <a:t>1-A   2-C   3-C   4-B   5-B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20040"/>
            <a:ext cx="2194560" cy="384048"/>
          </a:xfrm>
          <a:prstGeom prst="roundRect">
            <a:avLst>
              <a:gd name="adj" fmla="val 8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MCQs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Data Structures (2/3) — Multiple Choice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1.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Which method removes all elements from a list?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remove()    B) pop()    C) clear()    D) delete()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444752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2.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Which method inserts an element at a specific index?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append()    B) insert()    C) extend()    D) add()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42032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3.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Tuples are best described as: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Mutable and ordered    B) Immutable and ordered    C) Mutable and unordered    D) Immutable and unordered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542032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615184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4.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Which set method does NOT raise an error if the value is missing?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remove()    B) discard()    C) pop()    D) clear()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12464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785616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5.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Which operator returns the union of two sets?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&amp;    B) -    C) |    D) ^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alibri"/>
              </a:rPr>
              <a:t>Answer Key: </a:t>
            </a:r>
            <a:r>
              <a:rPr sz="1050" b="0" i="0">
                <a:solidFill>
                  <a:srgbClr val="64748B"/>
                </a:solidFill>
                <a:latin typeface="Calibri"/>
              </a:rPr>
              <a:t>1-C   2-B   3-B   4-B   5-C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20040"/>
            <a:ext cx="2194560" cy="384048"/>
          </a:xfrm>
          <a:prstGeom prst="roundRect">
            <a:avLst>
              <a:gd name="adj" fmla="val 8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MCQs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Data Structures (3/3) — Multiple Choice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1.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A dictionary stores data as: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Ordered values only    B) Key-value pairs    C) Unique numbers    D) Nested lists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444752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306998"/>
                </a:solidFill>
                <a:latin typeface="Calibri"/>
              </a:rPr>
              <a:t>2. </a:t>
            </a:r>
            <a:r>
              <a:rPr sz="1200" b="1" i="0" dirty="0">
                <a:solidFill>
                  <a:srgbClr val="1E293B"/>
                </a:solidFill>
                <a:latin typeface="Calibri"/>
              </a:rPr>
              <a:t>Which method safely retrieves a value from a dictionary?</a:t>
            </a:r>
          </a:p>
          <a:p>
            <a:pPr algn="l"/>
            <a:r>
              <a:rPr sz="1050" b="0" i="0" dirty="0">
                <a:solidFill>
                  <a:srgbClr val="64748B"/>
                </a:solidFill>
                <a:latin typeface="Calibri"/>
              </a:rPr>
              <a:t>A) get()    B) fetch()    C) find()    D) access()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42032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3.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Which method removes a specific key from a dictionary?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remove()    B) delete()    C) pop()    D) clear()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542032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615184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4.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Which method returns all key-value pairs of a dictionary?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keys()    B) values()    C) items()    D) pairs()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12464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785616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5.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In a dictionary, which of these must be unique?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Values    B) Keys    C) Both keys and values    D) Neither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alibri"/>
              </a:rPr>
              <a:t>Answer Key: </a:t>
            </a:r>
            <a:r>
              <a:rPr sz="1050" b="0" i="0">
                <a:solidFill>
                  <a:srgbClr val="64748B"/>
                </a:solidFill>
                <a:latin typeface="Calibri"/>
              </a:rPr>
              <a:t>1-B   2-A   3-C   4-C   5-B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589520" y="3108960"/>
            <a:ext cx="2926080" cy="2926080"/>
          </a:xfrm>
          <a:prstGeom prst="ellipse">
            <a:avLst/>
          </a:prstGeom>
          <a:solidFill>
            <a:srgbClr val="30699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0" b="1" i="0">
                <a:solidFill>
                  <a:srgbClr val="FFD43B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7863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Python 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063240"/>
            <a:ext cx="7680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▪  if, elif, else &amp; nested if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▪  match-case statement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What is Control 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Control Flow is the order in which Python executes the statements in a program.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It decides which statement runs first and which runs afterward.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By default, every Python program executes from top to bottom, one statement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Control Flow —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Without any conditions, statements simply run in the order they are written.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161888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"Start"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"Learning Python"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"End"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03488"/>
            <a:ext cx="8229600" cy="145256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788852"/>
            <a:ext cx="7863840" cy="7694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Start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Learning 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Python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End</a:t>
            </a:r>
            <a:endParaRPr sz="12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Why is Control Flow Important?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In real life, almost every task depends on a condition — and Python programs work the same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28216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Real-Life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93976"/>
            <a:ext cx="8046720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ATM  →  if the password is correct, withdraw money; otherwise, show an error.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School  →  if marks &gt;= 40, the student passes; otherwise, they fail.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Website Login  →  check the username, then the password, then allow login.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Decision 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Decision making means the program checks a condition and takes action based on the result.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Example:  age = 20  →  is age &gt;= 18?  →  Yes: can vote,  No: cannot vote.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3911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Python uses these tools for decision making: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8046720" cy="1380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if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elif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else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match-case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The if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046720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The if statement checks a condition.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If the condition is True, its block of code executes.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If the condition is False, the block is skipped.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1576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Syntax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81527"/>
            <a:ext cx="804672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 dirty="0">
                <a:solidFill>
                  <a:srgbClr val="1E293B"/>
                </a:solidFill>
                <a:latin typeface="Calibri"/>
              </a:rPr>
              <a:t>▪  if condition:</a:t>
            </a:r>
          </a:p>
          <a:p>
            <a:pPr algn="l">
              <a:spcAft>
                <a:spcPts val="700"/>
              </a:spcAft>
            </a:pPr>
            <a:r>
              <a:rPr sz="1450" b="0" i="0" dirty="0">
                <a:solidFill>
                  <a:srgbClr val="1E293B"/>
                </a:solidFill>
                <a:latin typeface="Calibri"/>
              </a:rPr>
              <a:t>▪     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018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9664"/>
            <a:ext cx="804672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 dirty="0">
                <a:solidFill>
                  <a:srgbClr val="1E293B"/>
                </a:solidFill>
                <a:latin typeface="Calibri"/>
              </a:rPr>
              <a:t>▪  A colon (:) is always required after the condition.</a:t>
            </a:r>
          </a:p>
          <a:p>
            <a:pPr algn="l">
              <a:spcAft>
                <a:spcPts val="700"/>
              </a:spcAft>
            </a:pPr>
            <a:r>
              <a:rPr sz="1450" b="0" i="0" dirty="0">
                <a:solidFill>
                  <a:srgbClr val="1E293B"/>
                </a:solidFill>
                <a:latin typeface="Calibri"/>
              </a:rPr>
              <a:t>▪  The block must be indented (4 spaces).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if — Example: Voting 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The block only runs when the condition evaluates to True.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age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20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age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18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"You can vote."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You can vote.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if — More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if statements can check numeric conditions like marks or temperature.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354579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915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915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marks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85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marks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"Pass"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temperature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45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temperature &gt;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"It is very hot today."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98163"/>
            <a:ext cx="8229600" cy="135788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878837"/>
            <a:ext cx="786384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Pass </a:t>
            </a:r>
            <a:endParaRPr lang="en-US" sz="1250" b="0" i="0" dirty="0" smtClean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It 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is very hot today.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Multiple Statements Inside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An if block can contain more than one statement — all run together when True.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093976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salary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50000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salary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40000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"Eligible"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"Apply Now"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"Good Salary"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19271"/>
            <a:ext cx="8229600" cy="1636777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572" y="3652356"/>
            <a:ext cx="7863840" cy="7694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Eligible </a:t>
            </a:r>
            <a:endParaRPr lang="en-US" sz="1250" b="0" i="0" dirty="0" smtClean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Apply 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Now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Good 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Salary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if — Using User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Combine input() with if to make decisions based on what the user types.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161888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age =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input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"Enter your age: 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age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18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"Eligible for CNIC"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03488"/>
            <a:ext cx="8229600" cy="145256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712627"/>
            <a:ext cx="786384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Enter 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your age: 18  </a:t>
            </a:r>
            <a:endParaRPr lang="en-US" sz="1250" b="0" i="0" dirty="0" smtClean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Eligible 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for CNIC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What is else?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04672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The else statement executes a block of code when the if condition is False.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If the if condition fails, the else block runs instead.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Syntax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70632"/>
            <a:ext cx="8046720" cy="1380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if condition: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# code if condition is True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else: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# code if condition is 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else — Pass or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else provides a fallback path when the condition is not met.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marks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35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marks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"Pass"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"Fail"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Fail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else — Voting Eligibility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The else block runs whenever the if condition evaluates to False.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age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15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age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18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"Eligible to Vote"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"Not Eligible"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Not Eligible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else — Even or Odd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The modulus operator (%) is commonly used with if-else to check even/odd.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number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9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number %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==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"Even"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"Odd"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Odd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else — ATM Withdrawal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if-else is ideal for simple approve/reject decisions like withdrawals.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915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915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balance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5000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withdraw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7000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withdraw &lt;= balance: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"Transaction Successful"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"Insufficient Balance"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Insufficient 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What is elif?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04672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elif means "else if" and is used when there are multiple conditions to check.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If the first condition is False, Python checks the next elif condition, and so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Syntax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70632"/>
            <a:ext cx="8046720" cy="200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if condition1: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statement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elif condition2: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statement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else: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elif — Student 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Python checks each condition in order and stops at the first True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2697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8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9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2697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marks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82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marks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90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"Grade A+"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marks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80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"Grade A"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marks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70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"Grade B"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"Fail"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Grade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elif — Traffic 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elif works well for checking a variable against several exact values.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2697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8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9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2697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signal =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"Yellow"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signal ==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"Red"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"Stop"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signal ==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"Yellow"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"Ready"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signal ==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"Green"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"Go"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"Invalid Signal"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elif — Temperature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elif chains can handle several numeric ranges cleanly.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temp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42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temp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45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"Extreme Heat"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temp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35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"Hot"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"Normal / Cold"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elif — Online Shopping Discount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elif can map numeric ranges to different outcomes, like discount tiers.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amount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6000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amount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10000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"30% Discount"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amount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5000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"20% Discount"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"10% or No Discount"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20% Discount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Difference: if, elif, else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03504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Statement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Checks the first condition.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elif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Checks another condition if the previous one is False.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else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Executes when all previous conditions are False.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Rules of if-elif-else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1380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if always comes first.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elif can appear zero or multiple times.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else can only appear once.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else always comes at the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What is Nested if?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046720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A Nested if means an if statement written inside another if statement.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93976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Why Do We Use Nested if?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59736"/>
            <a:ext cx="8046720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Nested if is used when a second condition should only be checked after the first condition is True.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4495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Real-Life Example: ATM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10712"/>
            <a:ext cx="8046720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First check: Is the card inserted?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Then check: Is the PIN correct?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Only then: Withdraw money.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Nested if — Syntax &amp; Voting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The inner if only runs when the outer if condition is True.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age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20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citizen =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True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age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18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citizen: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"Eligible to Vote"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Eligible to Vote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Nested if — ATM  &amp;  Scholarship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Both conditions must be True for the inner block to run.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2603677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2436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8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2436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pin, balance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1234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10000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pin ==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1234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balance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5000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"Withdrawal Allowed"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marks, attendance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85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90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marks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80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attendance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75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"Scholarship Granted"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7261"/>
            <a:ext cx="8229600" cy="1108787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4067394"/>
            <a:ext cx="786384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306998"/>
                </a:solidFill>
                <a:latin typeface="Calibri"/>
              </a:rPr>
              <a:t>Output / Note: </a:t>
            </a:r>
            <a:endParaRPr lang="en-US" sz="1250" b="1" i="0" dirty="0" smtClean="0">
              <a:solidFill>
                <a:srgbClr val="306998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Withdrawal 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Allowed </a:t>
            </a:r>
            <a:endParaRPr lang="en-US" sz="1250" dirty="0">
              <a:solidFill>
                <a:srgbClr val="1E293B"/>
              </a:solidFill>
              <a:latin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i="0" dirty="0" smtClean="0">
                <a:solidFill>
                  <a:srgbClr val="1E293B"/>
                </a:solidFill>
                <a:latin typeface="Calibri"/>
              </a:rPr>
              <a:t>Scholarship 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Granted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Nested if — Login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A common real-world use: verifying a username, then a password.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165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username =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"admin"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password =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"1234"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username ==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"admin"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password ==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"1234"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"Login Successful"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Login Successful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Nested if-else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A nested if can also contain its own else, giving more precise decision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28216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Syntax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93976"/>
            <a:ext cx="8046720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if condition1: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if condition2: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    statement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else: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    statement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else: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Nested if-else — Bank Loan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The else can attach to either the outer or the inner if.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2697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8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9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2697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salary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70000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experience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salary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50000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experience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"Loan Approved"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else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"Need More Experience"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"Low Salary"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Loan Approved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Nested if-else — Admission  &amp;  Promotion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Nested if-else lets each condition have its own pass/fail outcome.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217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percentage, entry_test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78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65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percentage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70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if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entry_test &gt;=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60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"Admission Confirmed"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else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"Entry Test Failed"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else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"Low Percentage"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Admission Confirmed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Nested if — Advantages &amp; Disadvantages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046720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Easy for dependent conditions.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Enables better decision making.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Suitable for security systems, banking software, and login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1576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Disadvantages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81527"/>
            <a:ext cx="804672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Too many nested levels make code difficult to read.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Large nested code is difficult to maintain.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190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What is match-case?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046720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match-case is Python's version of a switch statement.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It compares one value against multiple possible cases.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Available from Python 3.10 onward.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1576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Why Use match-case?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81527"/>
            <a:ext cx="8046720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Instead of writing many elif statements for the same variable, match-case offers a cleaner alternative for comparing one value against several fixed options.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192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match-case —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2935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match variable: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case value1: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    statement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case value2: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    statement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case _: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        statement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The underscore ( _ ) means the default case, similar to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193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match-case — Day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match-case compares a single value against several fixed cases.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2697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8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9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2697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day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match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day: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case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"Monday"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case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"Tuesday"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case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"Wednesday"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case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_: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"Invalid Day"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Wednesday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194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match-case — Simple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Each case handles one exact operator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2436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8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2436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operator =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"+"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match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operator: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case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"+"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+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5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case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"-"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-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5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case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_: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"Invalid Operator"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195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match-case — Menu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match-case is especially clean for menu-driven programs.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2697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8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9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2697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choice =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match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choice: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case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"Burger"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case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"Pizza"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case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5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"Biryani"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case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_: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"Invalid Choice"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Pizza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196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match-case — 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case values can also be strings, not just numbers.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5568"/>
            <a:ext cx="8229600" cy="324612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310896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225295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225295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225295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115568"/>
            <a:ext cx="1371600" cy="31089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1155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54480"/>
            <a:ext cx="365760" cy="2436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1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2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3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4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5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6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7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8</a:t>
            </a:r>
          </a:p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E7681"/>
                </a:solidFill>
                <a:latin typeface="Courier New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7452360" cy="2436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grade =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"A"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250" b="1" i="0">
                <a:solidFill>
                  <a:srgbClr val="569CD6"/>
                </a:solidFill>
                <a:latin typeface="Courier New"/>
              </a:rPr>
              <a:t>match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grade: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case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"A"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"Excellent"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case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"B"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"Very Good"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50" b="1" i="0">
                <a:solidFill>
                  <a:srgbClr val="569CD6"/>
                </a:solidFill>
                <a:latin typeface="Courier New"/>
              </a:rPr>
              <a:t>case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 _:</a:t>
            </a:r>
          </a:p>
          <a:p>
            <a:pPr algn="l"/>
            <a:r>
              <a:rPr sz="1250" b="0" i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4EC9C0"/>
                </a:solidFill>
                <a:latin typeface="Courier New"/>
              </a:rPr>
              <a:t>print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CE9178"/>
                </a:solidFill>
                <a:latin typeface="Courier New"/>
              </a:rPr>
              <a:t>"Needs Improvement"</a:t>
            </a:r>
            <a:r>
              <a:rPr sz="1250" b="0" i="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06998"/>
                </a:solidFill>
                <a:latin typeface="Calibri"/>
              </a:rPr>
              <a:t>Output / Note: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Excellent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197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Difference: if-elif vs match-case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if-elif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match-case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Can compare different conditions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Compares one value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Supports logical operators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Mainly exact value matching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More flexible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Cleaner for menu-based programs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Available in all Python versions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Python 3.10+ only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198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When to Use Which?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Use if-elif when: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046720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Comparing ranges (marks &gt;= 80)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Using logical operators (and, or)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Comparing multiple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15768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06998"/>
                </a:solidFill>
                <a:latin typeface="Calibri"/>
              </a:rPr>
              <a:t>Use match-case when: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81527"/>
            <a:ext cx="8046720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Creating menus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Handling user choices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Mapping fixed values (days, months, grades)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199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548640"/>
            <a:ext cx="1280160" cy="1280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Control Flow —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1380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Use nested if only when conditions depend on each other.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Avoid deep nesting (more than 2-3 levels).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Use match-case for menu-driven programs.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▪  Use meaningful variable names.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20040"/>
            <a:ext cx="2194560" cy="384048"/>
          </a:xfrm>
          <a:prstGeom prst="roundRect">
            <a:avLst>
              <a:gd name="adj" fmla="val 8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MCQs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Control Flow (1/3) — Multiple Choice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1.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By default, Python executes statements: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Bottom to top    B) Randomly    C) Top to bottom    D) All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444752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2.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What is required after an if condition?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A semicolon    B) A colon    C) Curly braces    D) Nothing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42032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3.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Which block runs when an if condition is False and no elif/else exists?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The if block still runs    B) Nothing runs    C) Python raises an error    D) The program restarts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542032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615184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4.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Which statement provides a fallback when the if condition is False?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elif    B) else    C) case    D)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12464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785616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5.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How many else blocks can a single if-elif-else chain have?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0    B) 1    C) 2    D) Unlimited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alibri"/>
              </a:rPr>
              <a:t>Answer Key: </a:t>
            </a:r>
            <a:r>
              <a:rPr sz="1050" b="0" i="0">
                <a:solidFill>
                  <a:srgbClr val="64748B"/>
                </a:solidFill>
                <a:latin typeface="Calibri"/>
              </a:rPr>
              <a:t>1-C   2-B   3-B   4-B   5-B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202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20040"/>
            <a:ext cx="2194560" cy="384048"/>
          </a:xfrm>
          <a:prstGeom prst="roundRect">
            <a:avLst>
              <a:gd name="adj" fmla="val 8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MCQs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Control Flow (2/3) — Multiple Choice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1.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elif stands for: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Else Loop    B) Else If    C) End If    D) Extra 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444752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2.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How many elif blocks can one if statement have?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Exactly 1    B) Exactly 2    C) Zero or more    D) None allowed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42032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3.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A Nested if is: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An if inside a loop    B) An if inside another if    C) Two separate if statements    D) An if with no condition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542032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615184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4.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Nested if is most suitable for: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Single simple conditions    B) Dependent conditions    C) Loops only    D) String formatting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12464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785616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5.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A key disadvantage of deep nesting is: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Faster execution    B) Reduced readability    C) No conditions allowed    D) Cannot use else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alibri"/>
              </a:rPr>
              <a:t>Answer Key: </a:t>
            </a:r>
            <a:r>
              <a:rPr sz="1050" b="0" i="0">
                <a:solidFill>
                  <a:srgbClr val="64748B"/>
                </a:solidFill>
                <a:latin typeface="Calibri"/>
              </a:rPr>
              <a:t>1-B   2-C   3-B   4-B   5-B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20040"/>
            <a:ext cx="2194560" cy="384048"/>
          </a:xfrm>
          <a:prstGeom prst="roundRect">
            <a:avLst>
              <a:gd name="adj" fmla="val 8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MCQs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Control Flow (3/3) — Multiple Choice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1.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match-case is available from which Python version?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3.6+    B) 3.8+    C) 3.10+    D) 2.7+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444752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2.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In match-case, which symbol represents the default case?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*    B) _    C) ?    D) default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42032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3.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match-case is best suited for: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Range comparisons    B) Logical operator conditions    C) Comparing one value against fixed cases    D) Loops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542032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615184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4.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Which is available in all Python versions?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match-case    B) if-elif    C) Both equally    D) Neither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12464"/>
            <a:ext cx="3977639" cy="1042415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785616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6998"/>
                </a:solidFill>
                <a:latin typeface="Calibri"/>
              </a:rPr>
              <a:t>5.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Which should be avoided for readability?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A) Meaningful variable names    B) Deep nested if levels    C) Using else    D) Using elif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Calibri"/>
              </a:rPr>
              <a:t>Answer Key: </a:t>
            </a:r>
            <a:r>
              <a:rPr sz="1050" b="0" i="0">
                <a:solidFill>
                  <a:srgbClr val="64748B"/>
                </a:solidFill>
                <a:latin typeface="Calibri"/>
              </a:rPr>
              <a:t>1-C   2-B   3-C   4-B   5-B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Python Programming 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FFD43B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 — write code every day to master Python.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5308</Words>
  <Application>Microsoft Office PowerPoint</Application>
  <PresentationFormat>On-screen Show (16:9)</PresentationFormat>
  <Paragraphs>1268</Paragraphs>
  <Slides>78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&amp; Python Fundamentals</dc:title>
  <dc:subject>PptxGenJS Presentation</dc:subject>
  <dc:creator>Python Course</dc:creator>
  <cp:lastModifiedBy>Microsoft account</cp:lastModifiedBy>
  <cp:revision>21</cp:revision>
  <dcterms:created xsi:type="dcterms:W3CDTF">2026-07-05T17:36:59Z</dcterms:created>
  <dcterms:modified xsi:type="dcterms:W3CDTF">2026-07-29T04:55:38Z</dcterms:modified>
</cp:coreProperties>
</file>